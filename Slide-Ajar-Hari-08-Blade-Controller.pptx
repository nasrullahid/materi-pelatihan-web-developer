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6000"/>
          </a:blip>
          <a:stretch>
            <a:fillRect/>
          </a:stretch>
        </p:blipFill>
        <p:spPr>
          <a:xfrm>
            <a:off x="6309360" y="1737360"/>
            <a:ext cx="2651760" cy="26517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66928"/>
            <a:ext cx="1965960" cy="411480"/>
          </a:xfrm>
          <a:prstGeom prst="roundRect">
            <a:avLst>
              <a:gd name="adj" fmla="val 20000"/>
            </a:avLst>
          </a:prstGeom>
          <a:solidFill>
            <a:srgbClr val="EF3B2D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56692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8 DARI 15  ·  FASE 3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55448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Blade Template</a:t>
            </a:r>
            <a:endParaRPr lang="en-US" sz="44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Controller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566928" y="33832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tampilan dinamis yang rapi &amp; konsisten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66928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Ajar · Pelatihan Web Programmer Dasar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46120" cy="51435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57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INSTRUKTUR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941832"/>
            <a:ext cx="1591056" cy="1591056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5" name="Image 0" descr="/home/claude/deck/nasrullah_ava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005840"/>
            <a:ext cx="1463040" cy="146304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26517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Nasrullah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228600" y="3127248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Director</a:t>
            </a:r>
            <a:endParaRPr lang="en-US" sz="1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Magau Jaya Digital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LPK Mentorbox Indonesia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14400" y="4206240"/>
            <a:ext cx="1417320" cy="0"/>
          </a:xfrm>
          <a:prstGeom prst="line">
            <a:avLst/>
          </a:prstGeom>
          <a:noFill/>
          <a:ln w="12700">
            <a:solidFill>
              <a:srgbClr val="3F3F4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370832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43251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nasrullah.id</a:t>
            </a:r>
            <a:endParaRPr lang="en-US" sz="11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681728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14400" y="46360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github.com/nasrullahid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3611880" y="548640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9896" y="676656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206240" y="58521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PENDIDIKAN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3657600" y="1078992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Pendidikan Teknik Informatika dan Komputer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Negeri Makassar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3611880" y="1737360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9896" y="1865376"/>
            <a:ext cx="201168" cy="2011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206240" y="177393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PENGALAMAN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3657600" y="2267712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Director PT Magau Jaya Digital — membangun beragam produk digital &amp; SaaS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PT LPK Mentorbox Indonesia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developer (Laravel, Next.js, PostgreSQL)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Praktisi sertifikasi profesi BNSP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3611880" y="3611880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9896" y="3739896"/>
            <a:ext cx="201168" cy="20116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4206240" y="364845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SERTIFIKAT</a:t>
            </a:r>
            <a:endParaRPr lang="en-US" sz="1300" dirty="0"/>
          </a:p>
        </p:txBody>
      </p:sp>
      <p:sp>
        <p:nvSpPr>
          <p:cNvPr id="24" name="Text 16"/>
          <p:cNvSpPr/>
          <p:nvPr/>
        </p:nvSpPr>
        <p:spPr>
          <a:xfrm>
            <a:off x="3657600" y="4142232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 Kompetensi — BNSP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 Pelatihan Lv 4 — BNSP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 Junior Web Developer — BPPSDMP Makassar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HARI INI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Lima sesi, delapan jam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68249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82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71907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57276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Mengenal Blade &amp; directive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766560" y="157276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08.00–10.00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21284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11" name="Shape 8"/>
          <p:cNvSpPr/>
          <p:nvPr/>
        </p:nvSpPr>
        <p:spPr>
          <a:xfrm>
            <a:off x="685800" y="232257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2322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235915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91640" y="221284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&amp; inheritance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6766560" y="221284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10.15–12.00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285292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17" name="Shape 13"/>
          <p:cNvSpPr/>
          <p:nvPr/>
        </p:nvSpPr>
        <p:spPr>
          <a:xfrm>
            <a:off x="685800" y="296265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18" name="Text 14"/>
          <p:cNvSpPr/>
          <p:nvPr/>
        </p:nvSpPr>
        <p:spPr>
          <a:xfrm>
            <a:off x="685800" y="2962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999232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91640" y="285292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&amp; passing data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6766560" y="285292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13.00–15.00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48640" y="349300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23" name="Shape 18"/>
          <p:cNvSpPr/>
          <p:nvPr/>
        </p:nvSpPr>
        <p:spPr>
          <a:xfrm>
            <a:off x="685800" y="360273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24" name="Text 19"/>
          <p:cNvSpPr/>
          <p:nvPr/>
        </p:nvSpPr>
        <p:spPr>
          <a:xfrm>
            <a:off x="685800" y="3602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3639312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691640" y="349300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Assets, component &amp; mini-project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6766560" y="349300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15.15–16.30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548640" y="413308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29" name="Shape 23"/>
          <p:cNvSpPr/>
          <p:nvPr/>
        </p:nvSpPr>
        <p:spPr>
          <a:xfrm>
            <a:off x="685800" y="424281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30" name="Text 24"/>
          <p:cNvSpPr/>
          <p:nvPr/>
        </p:nvSpPr>
        <p:spPr>
          <a:xfrm>
            <a:off x="685800" y="42428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160" y="4279392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691640" y="413308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penutup</a:t>
            </a:r>
            <a:endParaRPr lang="en-US" sz="1450" dirty="0"/>
          </a:p>
        </p:txBody>
      </p:sp>
      <p:sp>
        <p:nvSpPr>
          <p:cNvPr id="33" name="Text 26"/>
          <p:cNvSpPr/>
          <p:nvPr/>
        </p:nvSpPr>
        <p:spPr>
          <a:xfrm>
            <a:off x="6766560" y="413308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16.30–17.00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PEMBELAJARAN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 akhir hari, kamu bisa…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80136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233" y="1934505"/>
            <a:ext cx="209215" cy="20921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35000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Menulis Blade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264261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 }} &amp; directive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10712" y="160020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30168" y="180136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3305" y="1934505"/>
            <a:ext cx="209215" cy="20921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235000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Menampilkan data &amp; perulangan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611880" y="264261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@if, @foreach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72784" y="160020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92240" y="180136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5377" y="1934505"/>
            <a:ext cx="209215" cy="20921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73952" y="235000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layout master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473952" y="264261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@extends, @yield, @section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15468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68096" y="335584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233" y="3488985"/>
            <a:ext cx="209215" cy="20921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" y="390448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Controller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49808" y="419709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menata logika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410712" y="315468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630168" y="335584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3305" y="3488985"/>
            <a:ext cx="209215" cy="20921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611880" y="390448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Mengirim data ke view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3611880" y="419709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controller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272784" y="315468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92240" y="335584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5377" y="3488985"/>
            <a:ext cx="209215" cy="20921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473952" y="390448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Memakai aset &amp; component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6473952" y="419709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asset(), &lt;x-...&gt;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Mengenal Blade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Templating rapi — pengganti echo PHP yang berantakan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1 · KONSEP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Blade: tampilan yang bersih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0" cy="1920240"/>
          </a:xfrm>
          <a:prstGeom prst="roundRect">
            <a:avLst>
              <a:gd name="adj" fmla="val 3810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837944"/>
            <a:ext cx="4626864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biasa (Hari 4) — berantakan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 echo $nama; ?&gt;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Blade — jauh lebih bersih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$nama }}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52160" y="178308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F4F4F5"/>
          </a:solidFill>
          <a:ln/>
        </p:spPr>
      </p:sp>
      <p:sp>
        <p:nvSpPr>
          <p:cNvPr id="7" name="Shape 5"/>
          <p:cNvSpPr/>
          <p:nvPr/>
        </p:nvSpPr>
        <p:spPr>
          <a:xfrm>
            <a:off x="6053328" y="1965960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81344" y="2093976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629400" y="1965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}}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053328" y="25146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menampilkan nilai variabel ke halaman, otomatis aman dari kode berbahaya.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48640" y="3977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Blade berakhiran .blade.php dan disimpan di resources/views/.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1 ·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Directive: logika di dalam Blade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114800" cy="2011680"/>
          </a:xfrm>
          <a:prstGeom prst="roundRect">
            <a:avLst>
              <a:gd name="adj" fmla="val 3636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3712464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@if($umur &gt;= 18)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&lt;p&gt;Dewasa&lt;/p&gt;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@else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&lt;p&gt;Belum dewasa&lt;/p&gt;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@endif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846320" y="1645920"/>
            <a:ext cx="3749040" cy="2011680"/>
          </a:xfrm>
          <a:prstGeom prst="roundRect">
            <a:avLst>
              <a:gd name="adj" fmla="val 3636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47488" y="1792224"/>
            <a:ext cx="3346704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@foreach($produk as $item)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&lt;li&gt;{{ $item }}&lt;/li&gt;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@endforeach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&lt;/ul&gt;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Directive diawali @ — versi Blade dari if dan foreach, tanpa &lt;?php ?&gt; yang berulang.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Layout &amp; Inheritance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kerangka dipakai semua halaman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2 ·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Layout master &amp; @yield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434840" cy="2926080"/>
          </a:xfrm>
          <a:prstGeom prst="roundRect">
            <a:avLst>
              <a:gd name="adj" fmla="val 2500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4032504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layouts/app.blade.php (induk)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&lt;head&gt;&lt;title&gt;@yield('judul')&lt;/title&gt;&lt;/head&gt;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@include('partials.navbar')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&lt;main&gt;@yield('konten')&lt;/main&gt;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74920" y="1645920"/>
            <a:ext cx="3520440" cy="2926080"/>
          </a:xfrm>
          <a:prstGeom prst="roundRect">
            <a:avLst>
              <a:gd name="adj" fmla="val 2500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276088" y="1792224"/>
            <a:ext cx="3118104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beranda.blade.php (anak)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@extends('layouts.app')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@section('judul', 'Beranda')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@section('konten')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&lt;h1&gt;Selamat datang&lt;/h1&gt;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@endsection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46817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@yield = lubang; @section = isi. Header/footer ditulis sekali, semua halaman mewarisinya.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2 · KONSEP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@include: memakai ulang potongan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852160" cy="1828800"/>
          </a:xfrm>
          <a:prstGeom prst="roundRect">
            <a:avLst>
              <a:gd name="adj" fmla="val 4000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837944"/>
            <a:ext cx="544982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simpan navbar di partials/navbar.blade.php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lalu sisipkan di mana pun: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@include('partials.navbar')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@include('partials.footer')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17830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4F4F5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0" y="1965960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1696" y="2093976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0" y="251460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Potongan berulang (navbar, footer) cukup ditulis sekali, lalu di-include ke banyak halaman.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48640" y="3749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@extends untuk mewarisi seluruh kerangka; @include untuk menyisipkan sepotong bagian.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Memindahkan logika keluar dari route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3 ·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Membuat &amp; memakai Controller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2926080"/>
          </a:xfrm>
          <a:prstGeom prst="roundRect">
            <a:avLst>
              <a:gd name="adj" fmla="val 2500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4992624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buat controller lewat Artisan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artisan make:controller ProdukController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app/Http/Controllers/ProdukController.php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ProdukController extends Controller 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function index() 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view('produk.index');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0" y="164592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144768" y="1792224"/>
            <a:ext cx="2249424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routes/web.php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App\Http\Controllers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\ProdukController;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Route::get('/produk',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[ProdukController::class,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'index']);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3 ·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Mengirim data dari controller ke 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846320" cy="2286000"/>
          </a:xfrm>
          <a:prstGeom prst="roundRect">
            <a:avLst>
              <a:gd name="adj" fmla="val 3200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4443984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 Controller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function index() 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$produk = ['Buku', 'Pulpen', 'Tas'];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view('produk.index',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['produk' =&gt; $produk]);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0" y="1645920"/>
            <a:ext cx="3108960" cy="2286000"/>
          </a:xfrm>
          <a:prstGeom prst="roundRect">
            <a:avLst>
              <a:gd name="adj" fmla="val 3200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87568" y="1792224"/>
            <a:ext cx="2706624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 view produk.index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&lt;ul&gt;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@foreach($produk as $item)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&lt;li&gt;{{ $item }}&lt;/li&gt;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@endforeach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&lt;/ul&gt;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menyiapkan data → view menampilkannya. Inilah 'C' dan 'V' dalam MVC bekerja sama.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3 · KONSEP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Controller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7498080" cy="1737360"/>
          </a:xfrm>
          <a:prstGeom prst="roundRect">
            <a:avLst>
              <a:gd name="adj" fmla="val 4211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709574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artisan make:controller ProdukController --resource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satu baris = 7 route CRUD sekaligus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Route::resource('produk', ProdukController::class);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3657600"/>
            <a:ext cx="1901952" cy="475488"/>
          </a:xfrm>
          <a:prstGeom prst="roundRect">
            <a:avLst>
              <a:gd name="adj" fmla="val 9615"/>
            </a:avLst>
          </a:prstGeom>
          <a:solidFill>
            <a:srgbClr val="F4F4F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65760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 </a:t>
            </a:r>
            <a:pPr indent="0" marL="0">
              <a:buNone/>
            </a:pPr>
            <a:r>
              <a:rPr lang="en-US" sz="10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78608" y="3657600"/>
            <a:ext cx="1901952" cy="475488"/>
          </a:xfrm>
          <a:prstGeom prst="roundRect">
            <a:avLst>
              <a:gd name="adj" fmla="val 9615"/>
            </a:avLst>
          </a:prstGeom>
          <a:solidFill>
            <a:srgbClr val="F4F4F5"/>
          </a:solidFill>
          <a:ln/>
        </p:spPr>
      </p:sp>
      <p:sp>
        <p:nvSpPr>
          <p:cNvPr id="9" name="Text 7"/>
          <p:cNvSpPr/>
          <p:nvPr/>
        </p:nvSpPr>
        <p:spPr>
          <a:xfrm>
            <a:off x="2670048" y="365760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</a:t>
            </a:r>
            <a:pPr indent="0" marL="0">
              <a:buNone/>
            </a:pPr>
            <a:r>
              <a:rPr lang="en-US" sz="10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tambah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08576" y="3657600"/>
            <a:ext cx="1901952" cy="475488"/>
          </a:xfrm>
          <a:prstGeom prst="roundRect">
            <a:avLst>
              <a:gd name="adj" fmla="val 9615"/>
            </a:avLst>
          </a:prstGeom>
          <a:solidFill>
            <a:srgbClr val="F4F4F5"/>
          </a:solidFill>
          <a:ln/>
        </p:spPr>
      </p:sp>
      <p:sp>
        <p:nvSpPr>
          <p:cNvPr id="11" name="Text 9"/>
          <p:cNvSpPr/>
          <p:nvPr/>
        </p:nvSpPr>
        <p:spPr>
          <a:xfrm>
            <a:off x="4700016" y="365760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 </a:t>
            </a:r>
            <a:pPr indent="0" marL="0">
              <a:buNone/>
            </a:pPr>
            <a:r>
              <a:rPr lang="en-US" sz="10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simpan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38544" y="3657600"/>
            <a:ext cx="1901952" cy="475488"/>
          </a:xfrm>
          <a:prstGeom prst="roundRect">
            <a:avLst>
              <a:gd name="adj" fmla="val 9615"/>
            </a:avLst>
          </a:prstGeom>
          <a:solidFill>
            <a:srgbClr val="F4F4F5"/>
          </a:solidFill>
          <a:ln/>
        </p:spPr>
      </p:sp>
      <p:sp>
        <p:nvSpPr>
          <p:cNvPr id="13" name="Text 11"/>
          <p:cNvSpPr/>
          <p:nvPr/>
        </p:nvSpPr>
        <p:spPr>
          <a:xfrm>
            <a:off x="6729984" y="365760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</a:t>
            </a:r>
            <a:pPr indent="0" marL="0">
              <a:buNone/>
            </a:pPr>
            <a:r>
              <a:rPr lang="en-US" sz="10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224528"/>
            <a:ext cx="1901952" cy="475488"/>
          </a:xfrm>
          <a:prstGeom prst="roundRect">
            <a:avLst>
              <a:gd name="adj" fmla="val 9615"/>
            </a:avLst>
          </a:prstGeom>
          <a:solidFill>
            <a:srgbClr val="F4F4F5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22452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 </a:t>
            </a:r>
            <a:pPr indent="0" marL="0">
              <a:buNone/>
            </a:pPr>
            <a:r>
              <a:rPr lang="en-US" sz="10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edit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78608" y="4224528"/>
            <a:ext cx="1901952" cy="475488"/>
          </a:xfrm>
          <a:prstGeom prst="roundRect">
            <a:avLst>
              <a:gd name="adj" fmla="val 9615"/>
            </a:avLst>
          </a:prstGeom>
          <a:solidFill>
            <a:srgbClr val="F4F4F5"/>
          </a:solidFill>
          <a:ln/>
        </p:spPr>
      </p:sp>
      <p:sp>
        <p:nvSpPr>
          <p:cNvPr id="17" name="Text 15"/>
          <p:cNvSpPr/>
          <p:nvPr/>
        </p:nvSpPr>
        <p:spPr>
          <a:xfrm>
            <a:off x="2670048" y="422452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</a:t>
            </a:r>
            <a:pPr indent="0" marL="0">
              <a:buNone/>
            </a:pPr>
            <a:r>
              <a:rPr lang="en-US" sz="10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perbarui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08576" y="4224528"/>
            <a:ext cx="1901952" cy="475488"/>
          </a:xfrm>
          <a:prstGeom prst="roundRect">
            <a:avLst>
              <a:gd name="adj" fmla="val 9615"/>
            </a:avLst>
          </a:prstGeom>
          <a:solidFill>
            <a:srgbClr val="F4F4F5"/>
          </a:solidFill>
          <a:ln/>
        </p:spPr>
      </p:sp>
      <p:sp>
        <p:nvSpPr>
          <p:cNvPr id="19" name="Text 17"/>
          <p:cNvSpPr/>
          <p:nvPr/>
        </p:nvSpPr>
        <p:spPr>
          <a:xfrm>
            <a:off x="4700016" y="422452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destroy </a:t>
            </a:r>
            <a:pPr indent="0" marL="0">
              <a:buNone/>
            </a:pPr>
            <a:r>
              <a:rPr lang="en-US" sz="10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hapus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4251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 CRUD standar — dipakai penuh di Hari 10.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4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Assets, Component &amp; Proyek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Menyusun tampilan yang rapi &amp; modular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4 ·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Aset statis &amp; component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499262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memuat CSS/gambar dari folder public/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 rel="stylesheet"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href="{{ asset('css/style.css') }}"&gt;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src="{{ asset('img/logo.png') }}"&gt;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0" y="164592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144768" y="1792224"/>
            <a:ext cx="224942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Blade component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dipakai seperti tag HTML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&lt;x-alert&gt;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 tersimpan!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&lt;/x-alert&gt;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36576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asset() menunjuk ke folder public/. Component (&lt;x-...&gt;) = potongan UI yang bisa dipakai ulang seperti tag.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4 · MINI-PROJECT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Aplikasi multi-halaman berlayout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977640" cy="3063240"/>
          </a:xfrm>
          <a:prstGeom prst="roundRect">
            <a:avLst>
              <a:gd name="adj" fmla="val 2388"/>
            </a:avLst>
          </a:prstGeom>
          <a:solidFill>
            <a:srgbClr val="FEF2F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105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Wajib ada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3566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master (layouts/app)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sebagai partial (@include)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halaman: beranda, tentang, produk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@extends layout master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produk: data dari controller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09160" y="1645920"/>
            <a:ext cx="3886200" cy="3063240"/>
          </a:xfrm>
          <a:prstGeom prst="roundRect">
            <a:avLst>
              <a:gd name="adj" fmla="val 2388"/>
            </a:avLst>
          </a:prstGeom>
          <a:solidFill>
            <a:srgbClr val="18181B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8105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yang dipakai</a:t>
            </a:r>
            <a:endParaRPr lang="en-US" sz="15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2359152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303520" y="2331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@extends, @section, @yield</a:t>
            </a:r>
            <a:endParaRPr lang="en-US" sz="12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834640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28072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@include (navbar)</a:t>
            </a:r>
            <a:endParaRPr lang="en-US" sz="12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3310128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303520" y="328269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+ view()</a:t>
            </a:r>
            <a:endParaRPr lang="en-US" sz="12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785616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303520" y="375818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data + @foreach</a:t>
            </a:r>
            <a:endParaRPr lang="en-US" sz="12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4261104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303520" y="42336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 }} &amp; asset()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6492240" y="2834640"/>
            <a:ext cx="2468880" cy="2468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5 · PENUTUP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868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Sebelum pulang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Titik rawan pemula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66928" y="205740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Salah titik: layouts.app (folder = titik)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Lupa @endif / @endforeach / @endsection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Variabel tak dikirim controller → undefined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section @yield vs @section tak sama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4114800"/>
            <a:ext cx="7315200" cy="640080"/>
          </a:xfrm>
          <a:prstGeom prst="roundRect">
            <a:avLst>
              <a:gd name="adj" fmla="val 11429"/>
            </a:avLst>
          </a:prstGeom>
          <a:solidFill>
            <a:srgbClr val="27272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4270248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411480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Besok — Hari 9: </a:t>
            </a:r>
            <a:pPr indent="0" marL="0">
              <a:buNone/>
            </a:pPr>
            <a:r>
              <a:rPr lang="en-US" sz="13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Eloquent &amp; migration — menghubungkan Laravel ke database.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 Ajar Hari 8 - Blade &amp; Controller</dc:title>
  <dc:subject>PptxGenJS Presentation</dc:subject>
  <dc:creator>PT LPK Mentorbox Indonesia</dc:creator>
  <cp:lastModifiedBy>PT LPK Mentorbox Indonesia</cp:lastModifiedBy>
  <cp:revision>1</cp:revision>
  <dcterms:created xsi:type="dcterms:W3CDTF">2026-07-05T23:54:38Z</dcterms:created>
  <dcterms:modified xsi:type="dcterms:W3CDTF">2026-07-05T23:54:38Z</dcterms:modified>
</cp:coreProperties>
</file>